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866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2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ORDERFIT  ·  발주맞춤  ·  매장 특화 발주 서비스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9866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“다른 사람들 하던 것처럼 따라했다가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재고비용 감당이 어려워졌어요”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초보 사장님들이 자주 하는 발주 예측 실수, 이제는 끝.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499616"/>
            <a:ext cx="9134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점포 입지와 규모를 고려한 재발주 시점·여유 재고·1회 발주량·발주 요일을 추천해 주는 서비스. 결정은 사장님의 몫.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88820" y="190195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1901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리드타임은 고정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98748" y="19019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0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8748" y="19019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점포 입지를 고려한 추천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57316" y="1901952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57316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쉬운 설명, 어려운 해설 모두 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 배경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660904"/>
            <a:ext cx="9866376" cy="1508760"/>
          </a:xfrm>
          <a:prstGeom prst="roundRect">
            <a:avLst>
              <a:gd name="adj" fmla="val 6061"/>
            </a:avLst>
          </a:prstGeom>
          <a:solidFill>
            <a:srgbClr val="EBE8E1"/>
          </a:solidFill>
          <a:ln w="12700">
            <a:solidFill>
              <a:srgbClr val="EBE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88920"/>
            <a:ext cx="306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상품, 다른 매장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081528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유형의 점포라도 입지나 상권 유형에 따라 일일 매출, 창고 규모도 다르지만, 종종 ‘업계 평균’ 혹은 ‘규정’에 의한 기계적 발주가 빈번합니다.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6576" y="2788920"/>
            <a:ext cx="306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기계적 발주의 문제점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6576" y="3081528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점포는 빈번한 품절이 발생하고, 또 어떤 매장은 재고가 쌓이며 판관비 손해가 납니다. 장기적으로 사업 지속 유인이 떨어질 수 있습니다.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98792" y="2788920"/>
            <a:ext cx="3069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바꿀 수 있는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98792" y="3081528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리드타임은 그대로 두고, 그 대신 ‘언제, 얼마나, 며칠에 한 번 발주할지’를 점포 특성을 최대한 고려해 다시 잡습니다.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29768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주요 기술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553712"/>
            <a:ext cx="9866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흐름 세 단계  ·  계산은 서비스가, 결정은 사장님이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828032"/>
            <a:ext cx="3191256" cy="1170432"/>
          </a:xfrm>
          <a:prstGeom prst="roundRect">
            <a:avLst>
              <a:gd name="adj" fmla="val 7813"/>
            </a:avLst>
          </a:prstGeom>
          <a:solidFill>
            <a:srgbClr val="EBE8E1"/>
          </a:solidFill>
          <a:ln w="12700">
            <a:solidFill>
              <a:srgbClr val="EBE8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" y="4937760"/>
            <a:ext cx="274320" cy="27432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" y="493776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 기본 정보 입력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" y="5303520"/>
            <a:ext cx="2898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 종류·크기, 위치와 상권, 하루 대략 몇 개 팔리는지 입력. 클릭 몇 번이면 충분합니다.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0" y="4828032"/>
            <a:ext cx="3191256" cy="1170432"/>
          </a:xfrm>
          <a:prstGeom prst="roundRect">
            <a:avLst>
              <a:gd name="adj" fmla="val 7813"/>
            </a:avLst>
          </a:prstGeom>
          <a:solidFill>
            <a:srgbClr val="EBE8E1"/>
          </a:solidFill>
          <a:ln w="12700">
            <a:solidFill>
              <a:srgbClr val="EBE8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95344" y="4937760"/>
            <a:ext cx="274320" cy="27432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95344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24528" y="493776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자동으로 맞춤 계산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95344" y="5303520"/>
            <a:ext cx="2898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주변 유동·경쟁·창고 여유를 반영해 재발주 시점, 여유 재고, 한 번 발주량, 발주 요일을 계산합니다.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086600" y="4828032"/>
            <a:ext cx="3191256" cy="1170432"/>
          </a:xfrm>
          <a:prstGeom prst="roundRect">
            <a:avLst>
              <a:gd name="adj" fmla="val 7813"/>
            </a:avLst>
          </a:prstGeom>
          <a:solidFill>
            <a:srgbClr val="EBE8E1"/>
          </a:solidFill>
          <a:ln w="12700">
            <a:solidFill>
              <a:srgbClr val="EBE8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32904" y="4937760"/>
            <a:ext cx="274320" cy="27432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32904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62088" y="493776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쉬운 말로 결과 설명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32904" y="5303520"/>
            <a:ext cx="2898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‘왜 이 숫자인지’를 일반 말로 풀어 주고, 경쟁 매장이 세지면 어떻게 되는지 시뮬레이션도 해 봅니다.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11480" y="6144768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파이프라인에서 쓰는 기술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1480" y="6400800"/>
            <a:ext cx="9866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서비스 기능과 핵심 계산이 돌아갈 때 실제로 붙는 도구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6675120"/>
            <a:ext cx="2398014" cy="713232"/>
          </a:xfrm>
          <a:prstGeom prst="roundRect">
            <a:avLst>
              <a:gd name="adj" fmla="val 12821"/>
            </a:avLst>
          </a:prstGeom>
          <a:solidFill>
            <a:srgbClr val="EBE8E1"/>
          </a:solidFill>
          <a:ln w="12700">
            <a:solidFill>
              <a:srgbClr val="EBE8E1"/>
            </a:solidFill>
            <a:prstDash val="solid"/>
          </a:ln>
        </p:spPr>
      </p:sp>
      <p:pic>
        <p:nvPicPr>
          <p:cNvPr id="40" name="Image 0" descr="/Users/urfacekwon/workspace/projects/md-preflight/outputs/poster-a3/assets/tech/badge-fast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6784848"/>
            <a:ext cx="329184" cy="32918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941832" y="6766560"/>
            <a:ext cx="18127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21208" y="7114032"/>
            <a:ext cx="21785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백엔드 API · 발주 계산 엔진 연결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900934" y="6675120"/>
            <a:ext cx="2398014" cy="713232"/>
          </a:xfrm>
          <a:prstGeom prst="roundRect">
            <a:avLst>
              <a:gd name="adj" fmla="val 12821"/>
            </a:avLst>
          </a:prstGeom>
          <a:solidFill>
            <a:srgbClr val="EBE8E1"/>
          </a:solidFill>
          <a:ln w="12700">
            <a:solidFill>
              <a:srgbClr val="EBE8E1"/>
            </a:solidFill>
            <a:prstDash val="solid"/>
          </a:ln>
        </p:spPr>
      </p:sp>
      <p:pic>
        <p:nvPicPr>
          <p:cNvPr id="44" name="Image 1" descr="/Users/urfacekwon/workspace/projects/md-preflight/outputs/poster-a3/assets/tech/badge-kak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662" y="6784848"/>
            <a:ext cx="329184" cy="329184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3431286" y="6766560"/>
            <a:ext cx="18127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Kakao Local API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3010662" y="7114032"/>
            <a:ext cx="21785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주변 매장·시설 조회 (입지·경쟁)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5390388" y="6675120"/>
            <a:ext cx="2398014" cy="713232"/>
          </a:xfrm>
          <a:prstGeom prst="roundRect">
            <a:avLst>
              <a:gd name="adj" fmla="val 12821"/>
            </a:avLst>
          </a:prstGeom>
          <a:solidFill>
            <a:srgbClr val="EBE8E1"/>
          </a:solidFill>
          <a:ln w="12700">
            <a:solidFill>
              <a:srgbClr val="EBE8E1"/>
            </a:solidFill>
            <a:prstDash val="solid"/>
          </a:ln>
        </p:spPr>
      </p:sp>
      <p:pic>
        <p:nvPicPr>
          <p:cNvPr id="48" name="Image 2" descr="/Users/urfacekwon/workspace/projects/md-preflight/outputs/poster-a3/assets/tech/badge-pydant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6784848"/>
            <a:ext cx="329184" cy="329184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5920740" y="6766560"/>
            <a:ext cx="18127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1150" dirty="0"/>
          </a:p>
        </p:txBody>
      </p:sp>
      <p:sp>
        <p:nvSpPr>
          <p:cNvPr id="50" name="Text 45"/>
          <p:cNvSpPr/>
          <p:nvPr/>
        </p:nvSpPr>
        <p:spPr>
          <a:xfrm>
            <a:off x="5500116" y="7114032"/>
            <a:ext cx="21785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입력값 검증 · 안전한 데이터 구조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7879842" y="6675120"/>
            <a:ext cx="2398014" cy="713232"/>
          </a:xfrm>
          <a:prstGeom prst="roundRect">
            <a:avLst>
              <a:gd name="adj" fmla="val 12821"/>
            </a:avLst>
          </a:prstGeom>
          <a:solidFill>
            <a:srgbClr val="EBE8E1"/>
          </a:solidFill>
          <a:ln w="12700">
            <a:solidFill>
              <a:srgbClr val="EBE8E1"/>
            </a:solidFill>
            <a:prstDash val="solid"/>
          </a:ln>
        </p:spPr>
      </p:sp>
      <p:pic>
        <p:nvPicPr>
          <p:cNvPr id="52" name="Image 3" descr="/Users/urfacekwon/workspace/projects/md-preflight/outputs/poster-a3/assets/tech/badge-verc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570" y="6784848"/>
            <a:ext cx="329184" cy="329184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410194" y="6766560"/>
            <a:ext cx="18127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7989570" y="7114032"/>
            <a:ext cx="21785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배포 · 누구나 접속 가능한 호스팅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411480" y="749808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시연 화면</a:t>
            </a:r>
            <a:endParaRPr lang="en-US" sz="1300" dirty="0"/>
          </a:p>
        </p:txBody>
      </p:sp>
      <p:sp>
        <p:nvSpPr>
          <p:cNvPr id="56" name="Text 50"/>
          <p:cNvSpPr/>
          <p:nvPr/>
        </p:nvSpPr>
        <p:spPr>
          <a:xfrm>
            <a:off x="411480" y="7754112"/>
            <a:ext cx="9866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baljumatch.vercel.app</a:t>
            </a:r>
            <a:endParaRPr lang="en-US" sz="1200" dirty="0"/>
          </a:p>
        </p:txBody>
      </p:sp>
      <p:sp>
        <p:nvSpPr>
          <p:cNvPr id="57" name="Shape 51"/>
          <p:cNvSpPr/>
          <p:nvPr/>
        </p:nvSpPr>
        <p:spPr>
          <a:xfrm>
            <a:off x="411480" y="8028432"/>
            <a:ext cx="4850892" cy="3003804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466344" y="8065008"/>
            <a:ext cx="4741164" cy="2555748"/>
          </a:xfrm>
          <a:prstGeom prst="roundRect">
            <a:avLst>
              <a:gd name="adj" fmla="val 2147"/>
            </a:avLst>
          </a:prstGeom>
          <a:solidFill>
            <a:srgbClr val="F0EEE8"/>
          </a:solidFill>
          <a:ln w="12700">
            <a:solidFill>
              <a:srgbClr val="F0EEE8"/>
            </a:solidFill>
            <a:prstDash val="solid"/>
          </a:ln>
        </p:spPr>
      </p:sp>
      <p:pic>
        <p:nvPicPr>
          <p:cNvPr id="59" name="Image 4" descr="/Users/urfacekwon/workspace/projects/md-preflight/outputs/poster-a3/assets/ui/01-st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81" y="8083296"/>
            <a:ext cx="3998889" cy="2510028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502920" y="10648188"/>
            <a:ext cx="4668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 화면</a:t>
            </a:r>
            <a:endParaRPr lang="en-US" sz="1200" dirty="0"/>
          </a:p>
        </p:txBody>
      </p:sp>
      <p:sp>
        <p:nvSpPr>
          <p:cNvPr id="61" name="Text 54"/>
          <p:cNvSpPr/>
          <p:nvPr/>
        </p:nvSpPr>
        <p:spPr>
          <a:xfrm>
            <a:off x="502920" y="10812780"/>
            <a:ext cx="4668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매장·시연 시나리오 선택</a:t>
            </a:r>
            <a:endParaRPr lang="en-US" sz="1050" dirty="0"/>
          </a:p>
        </p:txBody>
      </p:sp>
      <p:sp>
        <p:nvSpPr>
          <p:cNvPr id="62" name="Shape 55"/>
          <p:cNvSpPr/>
          <p:nvPr/>
        </p:nvSpPr>
        <p:spPr>
          <a:xfrm>
            <a:off x="5426964" y="8028432"/>
            <a:ext cx="4850892" cy="3003804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5481828" y="8065008"/>
            <a:ext cx="4741164" cy="2555748"/>
          </a:xfrm>
          <a:prstGeom prst="roundRect">
            <a:avLst>
              <a:gd name="adj" fmla="val 2147"/>
            </a:avLst>
          </a:prstGeom>
          <a:solidFill>
            <a:srgbClr val="F0EEE8"/>
          </a:solidFill>
          <a:ln w="12700">
            <a:solidFill>
              <a:srgbClr val="F0EEE8"/>
            </a:solidFill>
            <a:prstDash val="solid"/>
          </a:ln>
        </p:spPr>
      </p:sp>
      <p:pic>
        <p:nvPicPr>
          <p:cNvPr id="64" name="Image 5" descr="/Users/urfacekwon/workspace/projects/md-preflight/outputs/poster-a3/assets/ui/02-result-summ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965" y="8083296"/>
            <a:ext cx="3998889" cy="2510028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5518404" y="10648188"/>
            <a:ext cx="4668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 결과</a:t>
            </a:r>
            <a:endParaRPr lang="en-US" sz="1200" dirty="0"/>
          </a:p>
        </p:txBody>
      </p:sp>
      <p:sp>
        <p:nvSpPr>
          <p:cNvPr id="66" name="Text 58"/>
          <p:cNvSpPr/>
          <p:nvPr/>
        </p:nvSpPr>
        <p:spPr>
          <a:xfrm>
            <a:off x="5518404" y="10812780"/>
            <a:ext cx="4668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언제·얼마나 발주할지 한눈에</a:t>
            </a:r>
            <a:endParaRPr lang="en-US" sz="1050" dirty="0"/>
          </a:p>
        </p:txBody>
      </p:sp>
      <p:sp>
        <p:nvSpPr>
          <p:cNvPr id="67" name="Shape 59"/>
          <p:cNvSpPr/>
          <p:nvPr/>
        </p:nvSpPr>
        <p:spPr>
          <a:xfrm>
            <a:off x="411480" y="11141964"/>
            <a:ext cx="4850892" cy="3003804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466344" y="11178540"/>
            <a:ext cx="4741164" cy="2555748"/>
          </a:xfrm>
          <a:prstGeom prst="roundRect">
            <a:avLst>
              <a:gd name="adj" fmla="val 2147"/>
            </a:avLst>
          </a:prstGeom>
          <a:solidFill>
            <a:srgbClr val="F0EEE8"/>
          </a:solidFill>
          <a:ln w="12700">
            <a:solidFill>
              <a:srgbClr val="F0EEE8"/>
            </a:solidFill>
            <a:prstDash val="solid"/>
          </a:ln>
        </p:spPr>
      </p:sp>
      <p:pic>
        <p:nvPicPr>
          <p:cNvPr id="69" name="Image 6" descr="/Users/urfacekwon/workspace/projects/md-preflight/outputs/poster-a3/assets/ui/03-comparis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481" y="11196828"/>
            <a:ext cx="3998889" cy="2510028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502920" y="13761720"/>
            <a:ext cx="4668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 비교</a:t>
            </a:r>
            <a:endParaRPr lang="en-US" sz="1200" dirty="0"/>
          </a:p>
        </p:txBody>
      </p:sp>
      <p:sp>
        <p:nvSpPr>
          <p:cNvPr id="71" name="Text 62"/>
          <p:cNvSpPr/>
          <p:nvPr/>
        </p:nvSpPr>
        <p:spPr>
          <a:xfrm>
            <a:off x="502920" y="13926312"/>
            <a:ext cx="4668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기준 vs 이 매장 추천</a:t>
            </a:r>
            <a:endParaRPr lang="en-US" sz="1050" dirty="0"/>
          </a:p>
        </p:txBody>
      </p:sp>
      <p:sp>
        <p:nvSpPr>
          <p:cNvPr id="72" name="Shape 63"/>
          <p:cNvSpPr/>
          <p:nvPr/>
        </p:nvSpPr>
        <p:spPr>
          <a:xfrm>
            <a:off x="5426964" y="11141964"/>
            <a:ext cx="4850892" cy="3003804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5481828" y="11178540"/>
            <a:ext cx="4741164" cy="2555748"/>
          </a:xfrm>
          <a:prstGeom prst="roundRect">
            <a:avLst>
              <a:gd name="adj" fmla="val 2147"/>
            </a:avLst>
          </a:prstGeom>
          <a:solidFill>
            <a:srgbClr val="F0EEE8"/>
          </a:solidFill>
          <a:ln w="12700">
            <a:solidFill>
              <a:srgbClr val="F0EEE8"/>
            </a:solidFill>
            <a:prstDash val="solid"/>
          </a:ln>
        </p:spPr>
      </p:sp>
      <p:pic>
        <p:nvPicPr>
          <p:cNvPr id="74" name="Image 7" descr="/Users/urfacekwon/workspace/projects/md-preflight/outputs/poster-a3/assets/ui/04-simulati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965" y="11196828"/>
            <a:ext cx="3998889" cy="2510028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5518404" y="13761720"/>
            <a:ext cx="4668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시뮬레이션</a:t>
            </a:r>
            <a:endParaRPr lang="en-US" sz="1200" dirty="0"/>
          </a:p>
        </p:txBody>
      </p:sp>
      <p:sp>
        <p:nvSpPr>
          <p:cNvPr id="76" name="Text 66"/>
          <p:cNvSpPr/>
          <p:nvPr/>
        </p:nvSpPr>
        <p:spPr>
          <a:xfrm>
            <a:off x="5518404" y="13926312"/>
            <a:ext cx="4668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경쟁·수요가 바뀌면?</a:t>
            </a:r>
            <a:endParaRPr lang="en-US" sz="1050" dirty="0"/>
          </a:p>
        </p:txBody>
      </p:sp>
      <p:sp>
        <p:nvSpPr>
          <p:cNvPr id="77" name="Shape 67"/>
          <p:cNvSpPr/>
          <p:nvPr/>
        </p:nvSpPr>
        <p:spPr>
          <a:xfrm>
            <a:off x="1783080" y="14255496"/>
            <a:ext cx="7123176" cy="9144"/>
          </a:xfrm>
          <a:prstGeom prst="rect">
            <a:avLst/>
          </a:prstGeom>
          <a:solidFill>
            <a:srgbClr val="D9D5CC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78" name="Text 68"/>
          <p:cNvSpPr/>
          <p:nvPr/>
        </p:nvSpPr>
        <p:spPr>
          <a:xfrm>
            <a:off x="411480" y="14328648"/>
            <a:ext cx="9866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주관 · 후원</a:t>
            </a:r>
            <a:endParaRPr lang="en-US" sz="1100" dirty="0"/>
          </a:p>
        </p:txBody>
      </p:sp>
      <p:pic>
        <p:nvPicPr>
          <p:cNvPr id="79" name="Image 8" descr="/Users/urfacekwon/workspace/projects/md-preflight/outputs/poster-a3/assets/logos/경기도일자리재단-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3129" y="14566392"/>
            <a:ext cx="1701659" cy="384048"/>
          </a:xfrm>
          <a:prstGeom prst="rect">
            <a:avLst/>
          </a:prstGeom>
        </p:spPr>
      </p:pic>
      <p:pic>
        <p:nvPicPr>
          <p:cNvPr id="80" name="Image 9" descr="/Users/urfacekwon/workspace/projects/md-preflight/outputs/poster-a3/assets/logos/경기도기술학교-lo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1988" y="14566392"/>
            <a:ext cx="1694329" cy="384048"/>
          </a:xfrm>
          <a:prstGeom prst="rect">
            <a:avLst/>
          </a:prstGeom>
        </p:spPr>
      </p:pic>
      <p:pic>
        <p:nvPicPr>
          <p:cNvPr id="81" name="Image 10" descr="/Users/urfacekwon/workspace/projects/md-preflight/outputs/poster-a3/assets/logos/고양시-log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3518" y="14566392"/>
            <a:ext cx="1432690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발주맞춤 · OrderFit — A3 포스터</dc:title>
  <dc:subject>매장 특화 발주 기준 재조정</dc:subject>
  <dc:creator>권태원 · 발주맞춤 · OrderFit</dc:creator>
  <cp:lastModifiedBy>권태원 · 발주맞춤 · OrderFit</cp:lastModifiedBy>
  <cp:revision>1</cp:revision>
  <dcterms:created xsi:type="dcterms:W3CDTF">2026-07-21T14:57:43Z</dcterms:created>
  <dcterms:modified xsi:type="dcterms:W3CDTF">2026-07-21T14:57:43Z</dcterms:modified>
</cp:coreProperties>
</file>